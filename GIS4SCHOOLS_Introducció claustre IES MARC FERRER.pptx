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287000" cx="18288000"/>
  <p:notesSz cx="6858000" cy="9144000"/>
  <p:embeddedFontLst>
    <p:embeddedFont>
      <p:font typeface="Sorts Mill Goudy"/>
      <p:regular r:id="rId14"/>
      <p:italic r:id="rId15"/>
    </p:embeddedFont>
    <p:embeddedFont>
      <p:font typeface="Hind Madurai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SortsMillGoudy-italic.fntdata"/><Relationship Id="rId14" Type="http://schemas.openxmlformats.org/officeDocument/2006/relationships/font" Target="fonts/SortsMillGoudy-regular.fntdata"/><Relationship Id="rId17" Type="http://schemas.openxmlformats.org/officeDocument/2006/relationships/font" Target="fonts/HindMadurai-bold.fntdata"/><Relationship Id="rId16" Type="http://schemas.openxmlformats.org/officeDocument/2006/relationships/font" Target="fonts/HindMadurai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f788b4faf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df788b4fa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df788b4faf_0_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b6c657bdb0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b6c657bdb0_1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77138" y="0"/>
            <a:ext cx="10710862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067938" y="2869530"/>
            <a:ext cx="7829400" cy="26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accent4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067938" y="5674341"/>
            <a:ext cx="7829400" cy="24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8288000" cy="152400"/>
          </a:xfrm>
          <a:prstGeom prst="rect">
            <a:avLst/>
          </a:prstGeom>
          <a:gradFill>
            <a:gsLst>
              <a:gs pos="0">
                <a:schemeClr val="accent2"/>
              </a:gs>
              <a:gs pos="5100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Hind Madurai"/>
              <a:ea typeface="Hind Madurai"/>
              <a:cs typeface="Hind Madurai"/>
              <a:sym typeface="Hind Madurai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9439275"/>
            <a:ext cx="18288002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1257300" y="2876265"/>
            <a:ext cx="15773400" cy="5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2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2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2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indent="-4000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2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indent="-40005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2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indent="-4000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indent="-4000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indent="-4000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indent="-4000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1257300" y="9165432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6057900" y="916543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3154025" y="9165432"/>
            <a:ext cx="3498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1247775" y="6348413"/>
            <a:ext cx="15783000" cy="69000"/>
          </a:xfrm>
          <a:prstGeom prst="rect">
            <a:avLst/>
          </a:prstGeom>
          <a:gradFill>
            <a:gsLst>
              <a:gs pos="0">
                <a:schemeClr val="accent2"/>
              </a:gs>
              <a:gs pos="5100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Hind Madurai"/>
              <a:ea typeface="Hind Madurai"/>
              <a:cs typeface="Hind Madurai"/>
              <a:sym typeface="Hind Madurai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1247775" y="1858335"/>
            <a:ext cx="157734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9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1247775" y="6710842"/>
            <a:ext cx="157734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6CBE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D6CBE0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6CBE0"/>
              </a:buClr>
              <a:buSzPts val="2700"/>
              <a:buFont typeface="Arial"/>
              <a:buNone/>
              <a:defRPr b="0" i="0" sz="2700" u="none" cap="none" strike="noStrike">
                <a:solidFill>
                  <a:srgbClr val="D6CBE0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6CBE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D6CBE0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6CBE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D6CBE0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6CBE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D6CBE0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6CBE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D6CBE0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6CBE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D6CBE0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6CBE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D6CBE0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0" y="0"/>
            <a:ext cx="18288000" cy="152400"/>
          </a:xfrm>
          <a:prstGeom prst="rect">
            <a:avLst/>
          </a:prstGeom>
          <a:gradFill>
            <a:gsLst>
              <a:gs pos="0">
                <a:schemeClr val="accent2"/>
              </a:gs>
              <a:gs pos="5100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Hind Madurai"/>
              <a:ea typeface="Hind Madurai"/>
              <a:cs typeface="Hind Madurai"/>
              <a:sym typeface="Hind Madurai"/>
            </a:endParaRPr>
          </a:p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9439275"/>
            <a:ext cx="18288002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14046" r="0" t="0"/>
          <a:stretch/>
        </p:blipFill>
        <p:spPr>
          <a:xfrm>
            <a:off x="0" y="2826545"/>
            <a:ext cx="5043488" cy="577453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1257300" y="9165432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6057900" y="916543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3154025" y="9165432"/>
            <a:ext cx="3498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392275" y="8639175"/>
            <a:ext cx="2731295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/>
        </p:nvSpPr>
        <p:spPr>
          <a:xfrm>
            <a:off x="1824038" y="9291638"/>
            <a:ext cx="269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rPr>
              <a:t>gis4schools.eu</a:t>
            </a:r>
            <a:endParaRPr sz="2100"/>
          </a:p>
        </p:txBody>
      </p:sp>
      <p:pic>
        <p:nvPicPr>
          <p:cNvPr id="43" name="Google Shape;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988" y="9370219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 txBox="1"/>
          <p:nvPr>
            <p:ph type="title"/>
          </p:nvPr>
        </p:nvSpPr>
        <p:spPr>
          <a:xfrm>
            <a:off x="1349424" y="1704336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accent4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0" y="0"/>
            <a:ext cx="18288000" cy="152400"/>
          </a:xfrm>
          <a:prstGeom prst="rect">
            <a:avLst/>
          </a:prstGeom>
          <a:gradFill>
            <a:gsLst>
              <a:gs pos="0">
                <a:schemeClr val="accent2"/>
              </a:gs>
              <a:gs pos="5100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Hind Madurai"/>
              <a:ea typeface="Hind Madurai"/>
              <a:cs typeface="Hind Madurai"/>
              <a:sym typeface="Hind Madurai"/>
            </a:endParaRPr>
          </a:p>
        </p:txBody>
      </p:sp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9439275"/>
            <a:ext cx="18288002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>
            <p:ph idx="10" type="dt"/>
          </p:nvPr>
        </p:nvSpPr>
        <p:spPr>
          <a:xfrm>
            <a:off x="1257300" y="9165432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6057900" y="916543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3154025" y="9165432"/>
            <a:ext cx="3498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2700" u="none" cap="none" strike="noStrik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1349424" y="1704336"/>
            <a:ext cx="15773400" cy="198834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6600" u="none" cap="none" strike="noStrike">
                <a:solidFill>
                  <a:schemeClr val="accent4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6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392275" y="8639175"/>
            <a:ext cx="2731293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/>
        </p:nvSpPr>
        <p:spPr>
          <a:xfrm>
            <a:off x="1824038" y="9291638"/>
            <a:ext cx="2693193" cy="55483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ind Madurai"/>
              <a:buNone/>
            </a:pPr>
            <a:r>
              <a:rPr b="0" i="0" lang="en-US" sz="2800" u="none">
                <a:solidFill>
                  <a:schemeClr val="lt1"/>
                </a:solidFill>
                <a:latin typeface="Hind Madurai"/>
                <a:ea typeface="Hind Madurai"/>
                <a:cs typeface="Hind Madurai"/>
                <a:sym typeface="Hind Madurai"/>
              </a:rPr>
              <a:t>gis4schools.eu</a:t>
            </a:r>
            <a:endParaRPr sz="2200"/>
          </a:p>
        </p:txBody>
      </p:sp>
      <p:pic>
        <p:nvPicPr>
          <p:cNvPr id="54" name="Google Shape;5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23988" y="9370218"/>
            <a:ext cx="400050" cy="400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P0FJT1gU1d5YGvhFihJF2OspDFiJ0EuL/view" TargetMode="External"/><Relationship Id="rId4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2286" y="0"/>
            <a:ext cx="18283429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4648200" y="4220170"/>
            <a:ext cx="6934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0"/>
          <p:cNvSpPr txBox="1"/>
          <p:nvPr>
            <p:ph type="ctrTitle"/>
          </p:nvPr>
        </p:nvSpPr>
        <p:spPr>
          <a:xfrm>
            <a:off x="1067938" y="2869530"/>
            <a:ext cx="7829400" cy="2672100"/>
          </a:xfrm>
          <a:prstGeom prst="rect">
            <a:avLst/>
          </a:prstGeom>
        </p:spPr>
        <p:txBody>
          <a:bodyPr anchorCtr="0" anchor="b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GIS4Schools</a:t>
            </a:r>
            <a:endParaRPr/>
          </a:p>
        </p:txBody>
      </p:sp>
      <p:sp>
        <p:nvSpPr>
          <p:cNvPr id="64" name="Google Shape;64;p10"/>
          <p:cNvSpPr txBox="1"/>
          <p:nvPr>
            <p:ph idx="1" type="subTitle"/>
          </p:nvPr>
        </p:nvSpPr>
        <p:spPr>
          <a:xfrm>
            <a:off x="1067952" y="5674350"/>
            <a:ext cx="9268500" cy="24837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600">
                <a:solidFill>
                  <a:schemeClr val="accent4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IES MARC</a:t>
            </a:r>
            <a:r>
              <a:rPr lang="en-US" sz="54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600">
                <a:solidFill>
                  <a:schemeClr val="accent4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FERRER</a:t>
            </a:r>
            <a:endParaRPr/>
          </a:p>
        </p:txBody>
      </p:sp>
      <p:pic>
        <p:nvPicPr>
          <p:cNvPr id="65" name="Google Shape;6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437" y="7204406"/>
            <a:ext cx="3484726" cy="1350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 rot="662390">
            <a:off x="64847" y="2368866"/>
            <a:ext cx="5639156" cy="584489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/>
          <p:nvPr/>
        </p:nvSpPr>
        <p:spPr>
          <a:xfrm>
            <a:off x="5924323" y="2705100"/>
            <a:ext cx="12116700" cy="6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82"/>
              <a:buFont typeface="Noto Sans Symbols"/>
              <a:buChar char="❖"/>
            </a:pPr>
            <a:r>
              <a:rPr lang="en-US" sz="2882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Millorar les competències STEAM als centres de secundària és l'objectiu principal del projecte finançat per Erasmus+ "GIS4Schools", que va començar el setembre de 2020 i acabarà el juny de 2023, però amb la intenció que perduri més enllà del temps establert. 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82" u="none">
              <a:solidFill>
                <a:srgbClr val="EDEDED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57200" lvl="0" marL="4572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82"/>
              <a:buFont typeface="Noto Sans Symbols"/>
              <a:buChar char="❖"/>
            </a:pPr>
            <a:r>
              <a:rPr lang="en-US" sz="2882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Introduir a l’alumnat en l’ús de la tecnologia GIS (Sistema d’Informació Geogràfica)</a:t>
            </a:r>
            <a:endParaRPr/>
          </a:p>
          <a:p>
            <a:pPr indent="-274193" lvl="0" marL="4572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2"/>
              <a:buFont typeface="Noto Sans Symbols"/>
              <a:buNone/>
            </a:pPr>
            <a:r>
              <a:t/>
            </a:r>
            <a:endParaRPr sz="2882" u="none">
              <a:solidFill>
                <a:srgbClr val="EDEDED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57200" lvl="0" marL="4572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82"/>
              <a:buFont typeface="Noto Sans Symbols"/>
              <a:buChar char="❖"/>
            </a:pPr>
            <a:r>
              <a:rPr lang="en-US" sz="2882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Aplicar els coneixements per l’estudi del </a:t>
            </a:r>
            <a:r>
              <a:rPr lang="en-US" sz="2882" u="none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canvi climàtic en les comunitats locals. En el nostre cas</a:t>
            </a:r>
            <a:r>
              <a:rPr lang="en-US" sz="2882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, Formentera.</a:t>
            </a:r>
            <a:endParaRPr sz="2882" u="none">
              <a:solidFill>
                <a:srgbClr val="EDEDED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2" name="Google Shape;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439" y="2705101"/>
            <a:ext cx="4147974" cy="47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9F7E1"/>
              </a:buClr>
              <a:buSzPts val="6600"/>
              <a:buFont typeface="Comic Sans MS"/>
              <a:buNone/>
            </a:pPr>
            <a:r>
              <a:rPr lang="en-US" sz="6600">
                <a:solidFill>
                  <a:srgbClr val="F9F7E1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OBJECTIUS</a:t>
            </a:r>
            <a:endParaRPr sz="6600">
              <a:solidFill>
                <a:srgbClr val="F9F7E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DE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9774928">
            <a:off x="722584" y="1270283"/>
            <a:ext cx="5788679" cy="5788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12"/>
          <p:cNvGrpSpPr/>
          <p:nvPr/>
        </p:nvGrpSpPr>
        <p:grpSpPr>
          <a:xfrm>
            <a:off x="6519169" y="2259825"/>
            <a:ext cx="11135527" cy="7233748"/>
            <a:chOff x="-2980535" y="-1446046"/>
            <a:chExt cx="10508993" cy="9645000"/>
          </a:xfrm>
        </p:grpSpPr>
        <p:sp>
          <p:nvSpPr>
            <p:cNvPr id="80" name="Google Shape;80;p12"/>
            <p:cNvSpPr txBox="1"/>
            <p:nvPr/>
          </p:nvSpPr>
          <p:spPr>
            <a:xfrm>
              <a:off x="-2980535" y="-1446046"/>
              <a:ext cx="10365300" cy="96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4826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Noto Sans Symbols"/>
                <a:buChar char="❖"/>
              </a:pPr>
              <a:r>
                <a:rPr lang="en-US" sz="2800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Quatre escoles secundàries </a:t>
              </a:r>
              <a:endParaRPr sz="28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482600" lvl="1" marL="9144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ITT Marconi (Itàlia)</a:t>
              </a:r>
              <a:endParaRPr sz="1800"/>
            </a:p>
            <a:p>
              <a:pPr indent="-482600" lvl="1" marL="9144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Escola Secundária José Afonso (Portugal)</a:t>
              </a:r>
              <a:endParaRPr sz="1800"/>
            </a:p>
            <a:p>
              <a:pPr indent="-482600" lvl="1" marL="9144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Colegiul National Ion Neculce Bucuresti (Romania)</a:t>
              </a:r>
              <a:endParaRPr sz="1800"/>
            </a:p>
            <a:p>
              <a:pPr indent="-482600" lvl="1" marL="9144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IES Marc Ferrer (Espanya); </a:t>
              </a:r>
              <a:endParaRPr b="0" i="0" sz="2800" u="none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304800" lvl="1" marL="9144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4826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Noto Sans Symbols"/>
                <a:buChar char="❖"/>
              </a:pPr>
              <a:r>
                <a:rPr lang="en-US" sz="2800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Una universitat tècnica: el Politecnico di Milano (POLIMI) (Itàlia) </a:t>
              </a:r>
              <a:endParaRPr sz="28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4826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Noto Sans Symbols"/>
                <a:buChar char="❖"/>
              </a:pPr>
              <a:r>
                <a:rPr lang="en-US" sz="2800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Un centre docent de formació: Eagle Intuition (Portugal) </a:t>
              </a:r>
              <a:endParaRPr sz="28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4826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Noto Sans Symbols"/>
                <a:buChar char="❖"/>
              </a:pPr>
              <a:r>
                <a:rPr lang="en-US" sz="2800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Quatre associacions europees i nacionals actives en l'àmbit de l'educació, l'espai, la resiliència i el canvi climàtic: </a:t>
              </a:r>
              <a:endParaRPr sz="28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482600" lvl="1" marL="9144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Eurisy (França), </a:t>
              </a:r>
              <a:endParaRPr b="0" i="0" sz="2800" u="none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482600" lvl="1" marL="9144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Euronike (Itàlia), </a:t>
              </a:r>
              <a:endParaRPr b="0" i="0" sz="2800" u="none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482600" lvl="1" marL="9144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accen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Associació Urban 2020 (Romania) i Blue Bubble World (Espanya). </a:t>
              </a:r>
              <a:endParaRPr b="0" i="0" sz="2800" u="none" cap="none" strike="noStrike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1" name="Google Shape;81;p12"/>
            <p:cNvSpPr txBox="1"/>
            <p:nvPr/>
          </p:nvSpPr>
          <p:spPr>
            <a:xfrm>
              <a:off x="0" y="3210288"/>
              <a:ext cx="7528458" cy="624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21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2" name="Google Shape;8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4004" y="2010370"/>
            <a:ext cx="4203175" cy="3666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omic Sans MS"/>
              <a:buNone/>
            </a:pPr>
            <a:r>
              <a:rPr lang="en-US" sz="60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 PARTICIPA?</a:t>
            </a:r>
            <a:endParaRPr sz="6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686C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 rot="662391">
            <a:off x="1621183" y="1405330"/>
            <a:ext cx="7213174" cy="7476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9312" y="3165054"/>
            <a:ext cx="7551334" cy="473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9275" y="2666454"/>
            <a:ext cx="1966795" cy="14518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2132468" y="228600"/>
            <a:ext cx="12421731" cy="100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IES Marc Ferrer</a:t>
            </a:r>
            <a:endParaRPr sz="5600" u="none">
              <a:solidFill>
                <a:srgbClr val="EDEDED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9080650" y="4216859"/>
            <a:ext cx="90096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5" u="none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Professorat de física, biologia</a:t>
            </a:r>
            <a:r>
              <a:rPr lang="en-US" sz="3525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, geologia i matemàtiques: Lorena, Carles,Santi, </a:t>
            </a:r>
            <a:endParaRPr sz="3525">
              <a:solidFill>
                <a:srgbClr val="EDEDED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5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Òscar Mayans, Glòria i Emilia.</a:t>
            </a:r>
            <a:endParaRPr sz="3525" u="none">
              <a:solidFill>
                <a:srgbClr val="EDEDED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296400" y="8020587"/>
            <a:ext cx="8793804" cy="125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5" u="none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Alumnat de 4t d’ES</a:t>
            </a:r>
            <a:r>
              <a:rPr lang="en-US" sz="3525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O que cursen matemàtiques acadèmiques</a:t>
            </a:r>
            <a:endParaRPr sz="3525" u="none">
              <a:solidFill>
                <a:srgbClr val="EDEDED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233046" y="1409700"/>
            <a:ext cx="9009559" cy="125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5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Al curs 2020-21 han format part de projecte:</a:t>
            </a:r>
            <a:endParaRPr sz="3525" u="none">
              <a:solidFill>
                <a:srgbClr val="EDEDED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1399" y="6519438"/>
            <a:ext cx="1966795" cy="1451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9B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57373">
            <a:off x="11217866" y="1299703"/>
            <a:ext cx="6800527" cy="8027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6691162">
            <a:off x="10894293" y="1398306"/>
            <a:ext cx="6796422" cy="8023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4"/>
          <p:cNvGrpSpPr/>
          <p:nvPr/>
        </p:nvGrpSpPr>
        <p:grpSpPr>
          <a:xfrm>
            <a:off x="3833096" y="2208484"/>
            <a:ext cx="4640142" cy="1882661"/>
            <a:chOff x="0" y="0"/>
            <a:chExt cx="6186858" cy="2510218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0" y="0"/>
              <a:ext cx="5557207" cy="649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 u="none">
                  <a:solidFill>
                    <a:srgbClr val="264C3D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Pas 1: 7 de </a:t>
              </a:r>
              <a:r>
                <a:rPr b="1" lang="en-US" sz="3200">
                  <a:solidFill>
                    <a:srgbClr val="264C3D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G</a:t>
              </a:r>
              <a:r>
                <a:rPr b="1" lang="en-US" sz="3200" u="none">
                  <a:solidFill>
                    <a:srgbClr val="264C3D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ener</a:t>
              </a:r>
              <a:endParaRPr b="1" sz="3200" u="none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5064" y="766149"/>
              <a:ext cx="6181794" cy="17440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264C3D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Elecció del logo del projecte</a:t>
              </a:r>
              <a:endParaRPr b="1" sz="24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264C3D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1" sz="24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3856207" y="4901291"/>
            <a:ext cx="4533364" cy="1177068"/>
            <a:chOff x="30814" y="-2931367"/>
            <a:chExt cx="6044486" cy="1569424"/>
          </a:xfrm>
        </p:grpSpPr>
        <p:sp>
          <p:nvSpPr>
            <p:cNvPr id="106" name="Google Shape;106;p14"/>
            <p:cNvSpPr txBox="1"/>
            <p:nvPr/>
          </p:nvSpPr>
          <p:spPr>
            <a:xfrm>
              <a:off x="111600" y="-2931367"/>
              <a:ext cx="5963700" cy="6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264C3D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</a:t>
              </a:r>
              <a:r>
                <a:rPr b="1" lang="en-US" sz="3200">
                  <a:solidFill>
                    <a:srgbClr val="264C3D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as 3: Abril-Juny</a:t>
              </a:r>
              <a:endParaRPr b="1" sz="32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2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30814" y="-1943342"/>
              <a:ext cx="57552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u="none">
                  <a:solidFill>
                    <a:srgbClr val="264C3D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Formació de l’alumnat</a:t>
              </a:r>
              <a:endParaRPr b="1" sz="2400" u="none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3856191" y="3634644"/>
            <a:ext cx="4068675" cy="1011508"/>
            <a:chOff x="0" y="-1461067"/>
            <a:chExt cx="5424900" cy="1348678"/>
          </a:xfrm>
        </p:grpSpPr>
        <p:sp>
          <p:nvSpPr>
            <p:cNvPr id="109" name="Google Shape;109;p14"/>
            <p:cNvSpPr txBox="1"/>
            <p:nvPr/>
          </p:nvSpPr>
          <p:spPr>
            <a:xfrm>
              <a:off x="96167" y="-1461067"/>
              <a:ext cx="5232600" cy="6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264C3D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Pas 2: Març</a:t>
              </a:r>
              <a:endParaRPr b="1" sz="32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0" y="-843788"/>
              <a:ext cx="54249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205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264C3D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Formació del professorat</a:t>
              </a:r>
              <a:endParaRPr b="1" sz="24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2949777" y="2660426"/>
            <a:ext cx="42600" cy="5456400"/>
          </a:xfrm>
          <a:prstGeom prst="rect">
            <a:avLst/>
          </a:prstGeom>
          <a:solidFill>
            <a:srgbClr val="264C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8346" y="2338494"/>
            <a:ext cx="714670" cy="71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8359" y="3741871"/>
            <a:ext cx="714670" cy="71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8346" y="4984023"/>
            <a:ext cx="714670" cy="71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9650" y="3429010"/>
            <a:ext cx="7805675" cy="52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1257300" y="587413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78159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4400"/>
              <a:buFont typeface="Comic Sans MS"/>
              <a:buNone/>
            </a:pPr>
            <a:r>
              <a:rPr lang="en-US">
                <a:solidFill>
                  <a:srgbClr val="EDEDED"/>
                </a:solidFill>
                <a:latin typeface="Comic Sans MS"/>
                <a:ea typeface="Comic Sans MS"/>
                <a:cs typeface="Comic Sans MS"/>
                <a:sym typeface="Comic Sans MS"/>
              </a:rPr>
              <a:t>CALENDARI</a:t>
            </a:r>
            <a:endParaRPr>
              <a:solidFill>
                <a:srgbClr val="EDEDED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13734" y="6417873"/>
            <a:ext cx="714670" cy="71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4084896" y="6333491"/>
            <a:ext cx="4472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rPr>
              <a:t>Pas 4: Curs 2021-22</a:t>
            </a:r>
            <a:endParaRPr b="1" sz="3200">
              <a:solidFill>
                <a:srgbClr val="264C3D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20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Realització del projecte</a:t>
            </a:r>
            <a:endParaRPr b="1" sz="3200">
              <a:solidFill>
                <a:srgbClr val="264C3D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rPr>
              <a:t>Pas 5: Curs 2022-23</a:t>
            </a:r>
            <a:endParaRPr b="1" sz="3200">
              <a:solidFill>
                <a:srgbClr val="264C3D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20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64C3D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Conclusions</a:t>
            </a:r>
            <a:endParaRPr b="1" sz="3200">
              <a:solidFill>
                <a:srgbClr val="264C3D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264C3D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264C3D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8346" y="7851710"/>
            <a:ext cx="714670" cy="714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title="GIS4Schools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7746133" cy="99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type="title"/>
          </p:nvPr>
        </p:nvSpPr>
        <p:spPr>
          <a:xfrm>
            <a:off x="1257318" y="3549925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Gràcies!</a:t>
            </a:r>
            <a:endParaRPr sz="100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IS4SchoolsTheme">
  <a:themeElements>
    <a:clrScheme name="GiS4Schools">
      <a:dk1>
        <a:srgbClr val="171841"/>
      </a:dk1>
      <a:lt1>
        <a:srgbClr val="C6B6D5"/>
      </a:lt1>
      <a:dk2>
        <a:srgbClr val="171841"/>
      </a:dk2>
      <a:lt2>
        <a:srgbClr val="C6B6D5"/>
      </a:lt2>
      <a:accent1>
        <a:srgbClr val="307EB7"/>
      </a:accent1>
      <a:accent2>
        <a:srgbClr val="DF4693"/>
      </a:accent2>
      <a:accent3>
        <a:srgbClr val="714895"/>
      </a:accent3>
      <a:accent4>
        <a:srgbClr val="FAA916"/>
      </a:accent4>
      <a:accent5>
        <a:srgbClr val="3DD79C"/>
      </a:accent5>
      <a:accent6>
        <a:srgbClr val="FFFFFF"/>
      </a:accent6>
      <a:hlink>
        <a:srgbClr val="307EB7"/>
      </a:hlink>
      <a:folHlink>
        <a:srgbClr val="DF469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GIS4SchoolsTheme">
  <a:themeElements>
    <a:clrScheme name="GiS4Schools">
      <a:dk1>
        <a:srgbClr val="171841"/>
      </a:dk1>
      <a:lt1>
        <a:srgbClr val="C6B6D5"/>
      </a:lt1>
      <a:dk2>
        <a:srgbClr val="171841"/>
      </a:dk2>
      <a:lt2>
        <a:srgbClr val="C6B6D5"/>
      </a:lt2>
      <a:accent1>
        <a:srgbClr val="307EB7"/>
      </a:accent1>
      <a:accent2>
        <a:srgbClr val="DF4693"/>
      </a:accent2>
      <a:accent3>
        <a:srgbClr val="714895"/>
      </a:accent3>
      <a:accent4>
        <a:srgbClr val="FAA916"/>
      </a:accent4>
      <a:accent5>
        <a:srgbClr val="3DD79C"/>
      </a:accent5>
      <a:accent6>
        <a:srgbClr val="FFFFFF"/>
      </a:accent6>
      <a:hlink>
        <a:srgbClr val="307EB7"/>
      </a:hlink>
      <a:folHlink>
        <a:srgbClr val="DF469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